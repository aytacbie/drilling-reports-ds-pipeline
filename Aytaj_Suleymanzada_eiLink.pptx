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BHA</c:v>
                </c:pt>
                <c:pt idx="1">
                  <c:v>BOP</c:v>
                </c:pt>
                <c:pt idx="2">
                  <c:v>TDS</c:v>
                </c:pt>
                <c:pt idx="3">
                  <c:v>MWD</c:v>
                </c:pt>
                <c:pt idx="4">
                  <c:v>wellhead</c:v>
                </c:pt>
                <c:pt idx="5">
                  <c:v>ROV</c:v>
                </c:pt>
                <c:pt idx="6">
                  <c:v>HWDP</c:v>
                </c:pt>
                <c:pt idx="7">
                  <c:v>spear BHA</c:v>
                </c:pt>
                <c:pt idx="8">
                  <c:v>RSS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1041</c:v>
                </c:pt>
                <c:pt idx="1">
                  <c:v>638</c:v>
                </c:pt>
                <c:pt idx="2">
                  <c:v>545</c:v>
                </c:pt>
                <c:pt idx="3">
                  <c:v>287</c:v>
                </c:pt>
                <c:pt idx="4">
                  <c:v>241</c:v>
                </c:pt>
                <c:pt idx="5">
                  <c:v>200</c:v>
                </c:pt>
                <c:pt idx="6">
                  <c:v>195</c:v>
                </c:pt>
                <c:pt idx="7">
                  <c:v>108</c:v>
                </c:pt>
                <c:pt idx="8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CA-4D5F-B394-92572C3EA2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37-4F32-9232-C1AF976922E3}"/>
              </c:ext>
            </c:extLst>
          </c:dPt>
          <c:dPt>
            <c:idx val="1"/>
            <c:invertIfNegative val="0"/>
            <c:bubble3D val="0"/>
            <c:spPr>
              <a:solidFill>
                <a:srgbClr val="8B94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37-4F32-9232-C1AF976922E3}"/>
              </c:ext>
            </c:extLst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37-4F32-9232-C1AF976922E3}"/>
              </c:ext>
            </c:extLst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37-4F32-9232-C1AF976922E3}"/>
              </c:ext>
            </c:extLst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37-4F32-9232-C1AF976922E3}"/>
              </c:ext>
            </c:extLst>
          </c:dPt>
          <c:dPt>
            <c:idx val="5"/>
            <c:invertIfNegative val="0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37-4F32-9232-C1AF976922E3}"/>
              </c:ext>
            </c:extLst>
          </c:dPt>
          <c:dPt>
            <c:idx val="6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37-4F32-9232-C1AF976922E3}"/>
              </c:ext>
            </c:extLst>
          </c:dPt>
          <c:dPt>
            <c:idx val="7"/>
            <c:invertIfNegative val="0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F37-4F32-9232-C1AF976922E3}"/>
              </c:ext>
            </c:extLst>
          </c:dPt>
          <c:dPt>
            <c:idx val="8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F37-4F32-9232-C1AF976922E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F37-4F32-9232-C1AF976922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DRILL</c:v>
                </c:pt>
                <c:pt idx="1">
                  <c:v>OTHER</c:v>
                </c:pt>
                <c:pt idx="2">
                  <c:v>TRIP_IN</c:v>
                </c:pt>
                <c:pt idx="3">
                  <c:v>TRIP_OUT</c:v>
                </c:pt>
                <c:pt idx="4">
                  <c:v>CIRCULATE</c:v>
                </c:pt>
                <c:pt idx="5">
                  <c:v>CEMENT</c:v>
                </c:pt>
                <c:pt idx="6">
                  <c:v>EQUIP_FAIL</c:v>
                </c:pt>
                <c:pt idx="7">
                  <c:v>WAIT</c:v>
                </c:pt>
                <c:pt idx="8">
                  <c:v>LOGGING</c:v>
                </c:pt>
                <c:pt idx="9">
                  <c:v>PRESSURE_TEST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4158</c:v>
                </c:pt>
                <c:pt idx="1">
                  <c:v>1966</c:v>
                </c:pt>
                <c:pt idx="2">
                  <c:v>1405</c:v>
                </c:pt>
                <c:pt idx="3">
                  <c:v>1094</c:v>
                </c:pt>
                <c:pt idx="4">
                  <c:v>374</c:v>
                </c:pt>
                <c:pt idx="5">
                  <c:v>328</c:v>
                </c:pt>
                <c:pt idx="6">
                  <c:v>288</c:v>
                </c:pt>
                <c:pt idx="7">
                  <c:v>218</c:v>
                </c:pt>
                <c:pt idx="8">
                  <c:v>167</c:v>
                </c:pt>
                <c:pt idx="9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F37-4F32-9232-C1AF976922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NPT 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1DC-4CA0-8482-C3BD4D5B98AB}"/>
              </c:ext>
            </c:extLst>
          </c:dPt>
          <c:dPt>
            <c:idx val="1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DC-4CA0-8482-C3BD4D5B98AB}"/>
              </c:ext>
            </c:extLst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DC-4CA0-8482-C3BD4D5B98AB}"/>
              </c:ext>
            </c:extLst>
          </c:dPt>
          <c:dPt>
            <c:idx val="3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DC-4CA0-8482-C3BD4D5B98AB}"/>
              </c:ext>
            </c:extLst>
          </c:dPt>
          <c:dPt>
            <c:idx val="4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DC-4CA0-8482-C3BD4D5B98AB}"/>
              </c:ext>
            </c:extLst>
          </c:dPt>
          <c:dPt>
            <c:idx val="5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1DC-4CA0-8482-C3BD4D5B98AB}"/>
              </c:ext>
            </c:extLst>
          </c:dPt>
          <c:dPt>
            <c:idx val="6"/>
            <c:bubble3D val="0"/>
            <c:spPr>
              <a:solidFill>
                <a:srgbClr val="8B94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1DC-4CA0-8482-C3BD4D5B98A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DC-4CA0-8482-C3BD4D5B98A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DC-4CA0-8482-C3BD4D5B98A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1DC-4CA0-8482-C3BD4D5B98A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1DC-4CA0-8482-C3BD4D5B98A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DC-4CA0-8482-C3BD4D5B98A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1DC-4CA0-8482-C3BD4D5B98AB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1DC-4CA0-8482-C3BD4D5B98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Waiting</c:v>
                </c:pt>
                <c:pt idx="1">
                  <c:v>Equip Failure</c:v>
                </c:pt>
                <c:pt idx="2">
                  <c:v>Tight Hole</c:v>
                </c:pt>
                <c:pt idx="3">
                  <c:v>Well Control</c:v>
                </c:pt>
                <c:pt idx="4">
                  <c:v>Fishing</c:v>
                </c:pt>
                <c:pt idx="5">
                  <c:v>Stuck Pipe</c:v>
                </c:pt>
                <c:pt idx="6">
                  <c:v>Lost Circ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1031</c:v>
                </c:pt>
                <c:pt idx="1">
                  <c:v>803</c:v>
                </c:pt>
                <c:pt idx="2">
                  <c:v>447</c:v>
                </c:pt>
                <c:pt idx="3">
                  <c:v>140</c:v>
                </c:pt>
                <c:pt idx="4">
                  <c:v>158</c:v>
                </c:pt>
                <c:pt idx="5">
                  <c:v>63</c:v>
                </c:pt>
                <c:pt idx="6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1DC-4CA0-8482-C3BD4D5B9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%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DRILL</c:v>
                </c:pt>
                <c:pt idx="1">
                  <c:v>REAM</c:v>
                </c:pt>
                <c:pt idx="2">
                  <c:v>CIRCULATE</c:v>
                </c:pt>
                <c:pt idx="3">
                  <c:v>LOGGING</c:v>
                </c:pt>
                <c:pt idx="4">
                  <c:v>TRIP_OUT</c:v>
                </c:pt>
                <c:pt idx="5">
                  <c:v>TRIP_IN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10.5</c:v>
                </c:pt>
                <c:pt idx="1">
                  <c:v>5.6</c:v>
                </c:pt>
                <c:pt idx="2">
                  <c:v>3.5</c:v>
                </c:pt>
                <c:pt idx="3">
                  <c:v>3</c:v>
                </c:pt>
                <c:pt idx="4">
                  <c:v>2.5</c:v>
                </c:pt>
                <c:pt idx="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B-4084-B1FA-FC63E0EBC3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07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182880"/>
            <a:ext cx="1371600" cy="1371600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38BDF8"/>
                </a:solidFill>
              </a:rPr>
              <a:t>eiLink R&amp;D Center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0F6FF"/>
                </a:solidFill>
              </a:rPr>
              <a:t>Technical Task</a:t>
            </a:r>
            <a:endParaRPr lang="en-US" sz="360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B949E"/>
                </a:solidFill>
              </a:rPr>
              <a:t>PDF Information Extraction · NLP Analysis · NDS Event Matching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657600" cy="2286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0F6FF"/>
                </a:solidFill>
              </a:rPr>
              <a:t>Aytaj Suleymanzada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949E"/>
                </a:solidFill>
              </a:rPr>
              <a:t>Research Assistant — Data Science Application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192024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7373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38BDF8"/>
                </a:solidFill>
              </a:rPr>
              <a:t>1,000+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457200" y="4450385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PDFs Parsed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514600" y="3840480"/>
            <a:ext cx="192024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3931920"/>
            <a:ext cx="17373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34D399"/>
                </a:solidFill>
              </a:rPr>
              <a:t>16K+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2606040" y="4450385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DB Rows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63440" y="3840480"/>
            <a:ext cx="192024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17373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A78BFA"/>
                </a:solidFill>
              </a:rPr>
              <a:t>3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4754880" y="4450385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Tasks Done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812280" y="3840480"/>
            <a:ext cx="192024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3931920"/>
            <a:ext cx="17373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FB923C"/>
                </a:solidFill>
              </a:rPr>
              <a:t>0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6903720" y="4450385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Parse Failures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Project Overview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" cy="1143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8BDF8"/>
                </a:solidFill>
              </a:rPr>
              <a:t>01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0F6FF"/>
                </a:solidFill>
              </a:rPr>
              <a:t>PDF Parsing &amp; Database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949E"/>
                </a:solidFill>
              </a:rPr>
              <a:t>Parse 1,000+ drilling daily report PDFs. Extract 9 structured sections. Store 16,000+ rows in SQLite.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64008" cy="11430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4D399"/>
                </a:solidFill>
              </a:rPr>
              <a:t>02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0F6FF"/>
                </a:solidFill>
              </a:rPr>
              <a:t>NDS Event Matching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371600" y="28072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949E"/>
                </a:solidFill>
              </a:rPr>
              <a:t>Match 4 NDS events to source PDFs using TF-IDF, BM25, Semantic &amp; Hybrid algorithms. Benchmark all methods.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64008" cy="11430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749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A78BFA"/>
                </a:solidFill>
              </a:rPr>
              <a:t>03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0F6FF"/>
                </a:solidFill>
              </a:rPr>
              <a:t>NLP Analysis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371600" y="41330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949E"/>
                </a:solidFill>
              </a:rPr>
              <a:t>Named Entity Recognition, Activity Classification, TF-IDF Keywords + NPT Detection, Anomaly Detection, Severity Analysis.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Data Exploration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</a:rPr>
              <a:t>Systematically discovered all table types before writing any parser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261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operations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291840" y="1261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38BDF8"/>
                </a:solidFill>
              </a:rPr>
              <a:t>1,026 tables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drilling_fluid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34D399"/>
                </a:solidFill>
              </a:rPr>
              <a:t>1,020 tables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706624"/>
            <a:ext cx="128016" cy="128016"/>
          </a:xfrm>
          <a:prstGeom prst="ellipse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2578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reports (title)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291840" y="2578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F6FF"/>
                </a:solidFill>
              </a:rPr>
              <a:t>1,000 tables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128016" cy="128016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236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header cols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291840" y="3236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8B949E"/>
                </a:solidFill>
              </a:rPr>
              <a:t>~1,000 tables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402336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" y="3895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pore_pressure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291840" y="38953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A78BFA"/>
                </a:solidFill>
              </a:rPr>
              <a:t>475 tables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1389888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30368" y="1261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survey_station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680960" y="1261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B923C"/>
                </a:solidFill>
              </a:rPr>
              <a:t>186 tables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846320" y="1847088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83480" y="2048256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30368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lithology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768096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0EA5E9"/>
                </a:solidFill>
              </a:rPr>
              <a:t>178 tables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83480" y="2706624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30368" y="2578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equipment_failure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7680960" y="2578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87171"/>
                </a:solidFill>
              </a:rPr>
              <a:t>148 tables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846320" y="3163824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83480" y="336499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30368" y="3236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gas_reading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680960" y="3236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34D399"/>
                </a:solidFill>
              </a:rPr>
              <a:t>127 tables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846320" y="3822192"/>
            <a:ext cx="41148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83480" y="402336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30368" y="3895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stratigraphic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7680960" y="38953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A78BFA"/>
                </a:solidFill>
              </a:rPr>
              <a:t>56 tables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B949E"/>
                </a:solidFill>
              </a:rPr>
              <a:t>494 tables classified as 'unknown' — identified as noise/split fragments, safely ignored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1 — PDF Parsing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</a:rPr>
              <a:t>Key challenges encountered and solved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" cy="8229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87171"/>
                </a:solidFill>
              </a:rPr>
              <a:t>⚠ Doubled Characters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949E"/>
                </a:solidFill>
              </a:rPr>
              <a:t>WWeellllbboorree → Wellbore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✓ fix_doubled() — skips digits to preserve 1997, 00:00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64008" cy="8229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923C"/>
                </a:solidFill>
              </a:rPr>
              <a:t>⚠ 3-Column Header Layout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8368" y="2423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949E"/>
                </a:solidFill>
              </a:rPr>
              <a:t>Wellbore (left) · Period (right) — same line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✓ x-position split: words x&lt;300 = Wellbore, x≥300 = Period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64008" cy="822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78BFA"/>
                </a:solidFill>
              </a:rPr>
              <a:t>⚠ Table Count Varies (4–8 per PDF)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58368" y="3383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949E"/>
                </a:solidFill>
              </a:rPr>
              <a:t>Hardcoded indices break across 1000 PDFs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✓ Content-based detection: identify tables by first cell text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64008" cy="8229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8BDF8"/>
                </a:solidFill>
              </a:rPr>
              <a:t>⚠ -999.99 Null Sentinel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58368" y="4343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949E"/>
                </a:solidFill>
              </a:rPr>
              <a:t>Missing values encoded as -999.99 throughout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75488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✓ clean_val() converts -999.99, -999.9, empty → None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1 — Database Schema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38BDF8"/>
                </a:solidFill>
              </a:rPr>
              <a:t>1,000+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45206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Reports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2423160" y="868680"/>
            <a:ext cx="18288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14600" y="96012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34D399"/>
                </a:solidFill>
              </a:rPr>
              <a:t>10,929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2514600" y="145206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Operations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389120" y="868680"/>
            <a:ext cx="18288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96012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F87171"/>
                </a:solidFill>
              </a:rPr>
              <a:t>244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4480560" y="145206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Equipment Failures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355080" y="868680"/>
            <a:ext cx="22860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96012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A78BFA"/>
                </a:solidFill>
              </a:rPr>
              <a:t>16K+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6446520" y="1452067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B949E"/>
                </a:solidFill>
              </a:rPr>
              <a:t>Total DB Rows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8BDF8"/>
                </a:solidFill>
              </a:rPr>
              <a:t>reports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94360" y="2404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wellbore, period, operator, depths, summaries...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3337560" y="205740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</a:rPr>
              <a:t>operations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474720" y="2404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start/end time, depth, activity, remark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6217920" y="205740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7171"/>
                </a:solidFill>
              </a:rPr>
              <a:t>equipment_failure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355080" y="2404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start time, depth, equip class, downtime, remark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B923C"/>
                </a:solidFill>
              </a:rPr>
              <a:t>drilling_fluid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94360" y="3364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sample time/depth, fluid type, density, viscosity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337560" y="301752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78BFA"/>
                </a:solidFill>
              </a:rPr>
              <a:t>pore_pressure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3474720" y="3364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time, depth mMD/TVD, equ mud weight, reading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EA5E9"/>
                </a:solidFill>
              </a:rPr>
              <a:t>survey_station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355080" y="3364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depth mMD/TVD, inclination, azimuth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</a:rPr>
              <a:t>lithology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594360" y="4325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start/end depth, shows desc, lithology desc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3337560" y="397764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0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949E"/>
                </a:solidFill>
              </a:rPr>
              <a:t>gas_reading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3474720" y="4325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time, class, depths, C1-IC5 (ppm), highest gas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217920" y="397764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55080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78BFA"/>
                </a:solidFill>
              </a:rPr>
              <a:t>stratigraphic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355080" y="4325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depth top mMD/TVD, formation description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2 — NDS Event Matching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B923C"/>
                </a:solidFill>
              </a:rPr>
              <a:t>Key Finding: NDS well names use simplified format (15/9-F-11) but database has 4 variants (A, B, T2). Expanding search to all variants increased F-11 candidate pool from 200 → 1,637 operations and found a semantically relevant tight hole match in F-11 T2.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01168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117"/>
                </a:solidFill>
              </a:rPr>
              <a:t>TF-IDF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8BDF8"/>
                </a:solidFill>
              </a:rPr>
              <a:t>Cosine Similarity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Keyword frequency matrix. Fast &amp; interpretable. Scores 0–1.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514600" y="15544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554480"/>
            <a:ext cx="2011680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117"/>
                </a:solidFill>
              </a:rPr>
              <a:t>BM25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60604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4D399"/>
                </a:solidFill>
              </a:rPr>
              <a:t>Probabilistic IR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2606040" y="2395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Improved TF-IDF. Better term saturation &amp; length normalization.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2011680" cy="4114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117"/>
                </a:solidFill>
              </a:rPr>
              <a:t>Semantic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75488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A78BFA"/>
                </a:solidFill>
              </a:rPr>
              <a:t>Sentence Transformers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754880" y="2395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all-MiniLM-L6-v2. Understands meaning beyond keywords.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2280" y="1554480"/>
            <a:ext cx="2011680" cy="41148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117"/>
                </a:solidFill>
              </a:rPr>
              <a:t>Hybrid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90372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B923C"/>
                </a:solidFill>
              </a:rPr>
              <a:t>TF-IDF+BM25+Semantic+Depth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6903720" y="2395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Weighted combination + query expansion + depth boost.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005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+ Query Expansion: 'tight hole' → overpull, drag, stuck, resistance, high torque  |  + Depth Boost: depth similarity within 50m tolerance  |  + Summary Matching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8BDF8"/>
                </a:solidFill>
              </a:rPr>
              <a:t>Output: matched PDF · similarity score · matched text excerpt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2 — Matching Results &amp; Benchmark</a:t>
            </a:r>
            <a:endParaRPr lang="en-US" sz="28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29756"/>
              </p:ext>
            </p:extLst>
          </p:nvPr>
        </p:nvGraphicFramePr>
        <p:xfrm>
          <a:off x="228600" y="868680"/>
          <a:ext cx="868680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Well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TF-IDF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BM25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Semantic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Hybrid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D1117"/>
                          </a:solidFill>
                        </a:rPr>
                        <a:t>Agreement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15/9-F-10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0.97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1.00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0.37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0.74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4D399"/>
                          </a:solidFill>
                        </a:rPr>
                        <a:t>TF-IDF + BM25 agree ✓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15/9-F-11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1.00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0.86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0.61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0.80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All methods disagree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15/9-F-12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0.82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0.98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0.52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0.75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F0F6FF"/>
                          </a:solidFill>
                        </a:rPr>
                        <a:t>BM25 best match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15/9-F-13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B949E"/>
                          </a:solidFill>
                        </a:rPr>
                        <a:t>Well not in database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8229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127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4D399"/>
                </a:solidFill>
              </a:rPr>
              <a:t>Best Match — 15/9-F-10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49E"/>
                </a:solidFill>
              </a:rPr>
              <a:t>File: 15_9_F_10_2009_04_12.pdf  |  TF-IDF &amp; BM25 agree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0F6FF"/>
                </a:solidFill>
              </a:rPr>
              <a:t>"Reamed interval 222-246 m MD in order to reduce inclination... Reduced inclination from 0.53 deg to 0.16"</a:t>
            </a:r>
            <a:endParaRPr lang="en-US" sz="1000"/>
          </a:p>
        </p:txBody>
      </p:sp>
      <p:sp>
        <p:nvSpPr>
          <p:cNvPr id="3" name="Shape 5"/>
          <p:cNvSpPr/>
          <p:nvPr/>
        </p:nvSpPr>
        <p:spPr>
          <a:xfrm>
            <a:off x="457200" y="4572000"/>
            <a:ext cx="19202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4590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38BDF8"/>
                </a:solidFill>
              </a:rPr>
              <a:t>TF-IDF · Very Fast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Keyword overlap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2606040" y="4572000"/>
            <a:ext cx="19202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97480" y="4590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34D399"/>
                </a:solidFill>
              </a:rPr>
              <a:t>BM25 · Fast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269748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Term weighting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4754880" y="4572000"/>
            <a:ext cx="19202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4590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A78BFA"/>
                </a:solidFill>
              </a:rPr>
              <a:t>Semantic · Slow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484632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Meaning understanding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6903720" y="4572000"/>
            <a:ext cx="19202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95160" y="4590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B923C"/>
                </a:solidFill>
              </a:rPr>
              <a:t>Hybrid · Medium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699516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49E"/>
                </a:solidFill>
              </a:rPr>
              <a:t>Best of all worlds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3a — Named Entity Recognition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</a:rPr>
              <a:t>Domain-specific entity extraction from 10,528 operation remarks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01168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34747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117"/>
                </a:solidFill>
              </a:rPr>
              <a:t>DEPTHS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8BDF8"/>
                </a:solidFill>
              </a:rPr>
              <a:t>3,734 ops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800m, 2212 mMD, 3057 mTVD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606040" y="1143000"/>
            <a:ext cx="201168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201168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117"/>
                </a:solidFill>
              </a:rPr>
              <a:t>MEASUREMENTS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26974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4D399"/>
                </a:solidFill>
              </a:rPr>
              <a:t>2,956 ops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69748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1985 LPM, 196 BAR, 140 RPM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201168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2011680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117"/>
                </a:solidFill>
              </a:rPr>
              <a:t>EQUIPMENT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78BFA"/>
                </a:solidFill>
              </a:rPr>
              <a:t>3,070 ops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BHA, BOP, TDS, MWD, ROV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903720" y="1143000"/>
            <a:ext cx="201168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1143000"/>
            <a:ext cx="2011680" cy="34747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117"/>
                </a:solidFill>
              </a:rPr>
              <a:t>TIME REFS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99516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B923C"/>
                </a:solidFill>
              </a:rPr>
              <a:t>4,200+ ops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69951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0546 HRS, 02:00, 14:30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Top Equipment Mentioned Across All PDFs</a:t>
            </a:r>
            <a:endParaRPr lang="en-US" sz="130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3200400"/>
          <a:ext cx="82296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3b — Activity Classification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</a:rPr>
              <a:t>Rule-based classifier — labels derived from actual raw activity data in PDFs</a:t>
            </a:r>
            <a:endParaRPr lang="en-US" sz="120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515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51560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3504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8BDF8"/>
                </a:solidFill>
              </a:rPr>
              <a:t>39.5%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699516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6FF"/>
                </a:solidFill>
              </a:rPr>
              <a:t>DRILL dominates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60350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Expected — most well time is spent drilling</a:t>
            </a:r>
            <a:endParaRPr lang="en-US" sz="90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35040" y="1965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4D399"/>
                </a:solidFill>
              </a:rPr>
              <a:t>23.7%</a:t>
            </a:r>
            <a:endParaRPr lang="en-US" sz="2000"/>
          </a:p>
        </p:txBody>
      </p:sp>
      <p:sp>
        <p:nvSpPr>
          <p:cNvPr id="11" name="Text 8"/>
          <p:cNvSpPr/>
          <p:nvPr/>
        </p:nvSpPr>
        <p:spPr>
          <a:xfrm>
            <a:off x="699516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6FF"/>
                </a:solidFill>
              </a:rPr>
              <a:t>TRIP IN + OUT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60350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Second largest — tripping is frequent operation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5943600" y="2788920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B949E"/>
                </a:solidFill>
              </a:rPr>
              <a:t>18.7%</a:t>
            </a:r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69951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6FF"/>
                </a:solidFill>
              </a:rPr>
              <a:t>OTHER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60350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Operations not matching standard categories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5943600" y="3657600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87171"/>
                </a:solidFill>
              </a:rPr>
              <a:t>2.7%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699516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6FF"/>
                </a:solidFill>
              </a:rPr>
              <a:t>Equipment Failure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60350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288 failure events across all operations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949E"/>
                </a:solidFill>
              </a:rPr>
              <a:t>Approach: check main_sub_activity first → fall back to remark text matching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Task 3c — TF-IDF Keywords &amp; Additional NLP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BDF8"/>
                </a:solidFill>
              </a:rPr>
              <a:t>TF-IDF Keyword Extraction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1 document per report — all remarks combined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Vocabulary: 5,000 features, bigrams included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Surfaces what makes each report UNIQUE vs corpus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max_df=0.85 removes overly common drilling terms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64608" y="877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87171"/>
                </a:solidFill>
              </a:rPr>
              <a:t>NPT Detection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864608" y="1152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2,674h NPT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864608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12.2% of total time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6812280" y="8229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22008" y="877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B923C"/>
                </a:solidFill>
              </a:rPr>
              <a:t>Anomaly Detection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922008" y="1152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Isolation Forest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6922008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547 anomalies (5.5%)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929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78BFA"/>
                </a:solidFill>
              </a:rPr>
              <a:t>Duration Analysis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864608" y="2203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WAIT = 4.1h avg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864608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Longest activity type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1929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4D399"/>
                </a:solidFill>
              </a:rPr>
              <a:t>Severity Detection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922008" y="2203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117 critical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922008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49E"/>
                </a:solidFill>
              </a:rPr>
              <a:t>1.1% of all ops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4572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NPT Breakdown by Type</a:t>
            </a:r>
            <a:endParaRPr lang="en-US" sz="1300"/>
          </a:p>
        </p:txBody>
      </p:sp>
      <p:graphicFrame>
        <p:nvGraphicFramePr>
          <p:cNvPr id="23" name="Chart 0"/>
          <p:cNvGraphicFramePr/>
          <p:nvPr/>
        </p:nvGraphicFramePr>
        <p:xfrm>
          <a:off x="457200" y="23774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475488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F6FF"/>
                </a:solidFill>
              </a:rPr>
              <a:t>Anomaly Rate by Activity</a:t>
            </a:r>
            <a:endParaRPr lang="en-US" sz="1300"/>
          </a:p>
        </p:txBody>
      </p:sp>
      <p:graphicFrame>
        <p:nvGraphicFramePr>
          <p:cNvPr id="25" name="Chart 1"/>
          <p:cNvGraphicFramePr/>
          <p:nvPr/>
        </p:nvGraphicFramePr>
        <p:xfrm>
          <a:off x="4754880" y="3246120"/>
          <a:ext cx="39319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Key Challenges &amp; Solutions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4008" cy="713232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7171"/>
                </a:solidFill>
              </a:rPr>
              <a:t>⚠ Font doubling artifact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✓ fix_doubled() — custom deduplication skipping digits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→ Enabled correct parsing of all 1000 PDFs without OCR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64008" cy="71323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B923C"/>
                </a:solidFill>
              </a:rPr>
              <a:t>⚠ Variable table count (4–8 per PDF)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✓ Content-based table routing — identify by first cell text, not index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→ Parser robust across all structural variations, 0 failures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64008" cy="7132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78BFA"/>
                </a:solidFill>
              </a:rPr>
              <a:t>⚠ Well name variants (F-11 A, B, T2)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58368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✓ Mapped all variants to base well name for NDS matching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→ Expanded F-11 search from 200 to 1,637 operations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64008" cy="7132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8BDF8"/>
                </a:solidFill>
              </a:rPr>
              <a:t>⚠ NDS event vocabulary mismatch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58368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✓ Domain query expansion (12 term groups) + semantic embeddings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02336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→ Better matches beyond exact keyword overlap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64008" cy="7132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</a:rPr>
              <a:t>⚠ Drilling Fluid Tables split across pages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49E"/>
                </a:solidFill>
              </a:rPr>
              <a:t>✓ Collect all fluid tables, merge, handle N samples dynamically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02336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0F6FF"/>
                </a:solidFill>
              </a:rPr>
              <a:t>→ Correctly captured 2, 3, 4-sample reports uniformly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0F6FF"/>
                </a:solidFill>
              </a:rPr>
              <a:t>Summary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BDF8"/>
                </a:solidFill>
              </a:rPr>
              <a:t>Deliverables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err="1">
                <a:solidFill>
                  <a:srgbClr val="8B949E"/>
                </a:solidFill>
              </a:rPr>
              <a:t>task1_pdf_parsing.ipynb</a:t>
            </a:r>
            <a:r>
              <a:rPr lang="en-US" sz="1050">
                <a:solidFill>
                  <a:srgbClr val="8B949E"/>
                </a:solidFill>
              </a:rPr>
              <a:t> — Task 1: PDF Parsing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 err="1">
                <a:solidFill>
                  <a:srgbClr val="8B949E"/>
                </a:solidFill>
              </a:rPr>
              <a:t>task2_nds_matching.ipynb</a:t>
            </a:r>
            <a:r>
              <a:rPr lang="en-US" sz="1050">
                <a:solidFill>
                  <a:srgbClr val="8B949E"/>
                </a:solidFill>
              </a:rPr>
              <a:t> — Task 2: NDS Matching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8B949E"/>
                </a:solidFill>
              </a:rPr>
              <a:t>task3_nlp_analysis.ipynb — Task 3: NLP Analysis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8B949E"/>
                </a:solidFill>
              </a:rPr>
              <a:t>drilling_reports.db — SQLite database (16K+ rows)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8B949E"/>
                </a:solidFill>
              </a:rPr>
              <a:t>nds_matching_results.xlsx — Matching output</a:t>
            </a:r>
            <a:endParaRPr lang="en-US" sz="1050"/>
          </a:p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8B949E"/>
                </a:solidFill>
              </a:rPr>
              <a:t>nlp_analysis_results.xlsx — NLP output (6 sheets)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4691576" y="55708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</a:rPr>
              <a:t>Key Results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691576" y="968561"/>
            <a:ext cx="3931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736" y="1041713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8BDF8"/>
                </a:solidFill>
              </a:rPr>
              <a:t>1,000+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6017456" y="1105721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PDFs — 0 failures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691576" y="1718369"/>
            <a:ext cx="3931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736" y="1791521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4D399"/>
                </a:solidFill>
              </a:rPr>
              <a:t>9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6017456" y="1855529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DB tables extracted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691576" y="2468177"/>
            <a:ext cx="3931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736" y="2541329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A78BFA"/>
                </a:solidFill>
              </a:rPr>
              <a:t>4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6017456" y="260533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Matching algorithms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691576" y="3217985"/>
            <a:ext cx="3931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736" y="3291137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87171"/>
                </a:solidFill>
              </a:rPr>
              <a:t>2,674h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6017456" y="3355145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6FF"/>
                </a:solidFill>
              </a:rPr>
              <a:t>NPT hours detected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93896" y="4037076"/>
            <a:ext cx="8229600" cy="777240"/>
          </a:xfrm>
          <a:prstGeom prst="rect">
            <a:avLst/>
          </a:prstGeom>
          <a:solidFill>
            <a:srgbClr val="38BDF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896" y="42473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D1117"/>
                </a:solidFill>
              </a:rPr>
              <a:t>Thank you for the opportunity — Aytaj Suleymanzada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1185</Words>
  <Application>Microsoft Office PowerPoint</Application>
  <PresentationFormat>On-screen Show (16:9)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eiLink R&amp;D — Technical Task Stage 1</dc:title>
  <dc:subject>PptxGenJS Presentation</dc:subject>
  <dc:creator>Aytaj Suleymanzada</dc:creator>
  <cp:lastModifiedBy>Aytaj Suleymanzade</cp:lastModifiedBy>
  <cp:revision>6</cp:revision>
  <dcterms:created xsi:type="dcterms:W3CDTF">2026-05-04T21:44:48Z</dcterms:created>
  <dcterms:modified xsi:type="dcterms:W3CDTF">2026-05-04T22:42:50Z</dcterms:modified>
</cp:coreProperties>
</file>